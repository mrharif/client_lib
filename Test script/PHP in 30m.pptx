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DB1C7-105E-5147-96B5-985E79FDB96E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6A28D-0099-204E-B270-5F5227FBB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6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Note, associative arrays elements do not expand within double quoted strings.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BAEA-5695-9D04-0B3C-B0342DC8B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7CB2B-EBCA-2910-7C53-C4B6BE33B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43063-A677-3B04-7A87-4AB5968F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91523-9E95-69C2-2B6D-34B058F4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F6440-ABD9-CA00-3D1C-9F9346AB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7156-78BE-2A45-9682-0F404142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1672-8349-46A9-2DDE-212D190C1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97449-C6E2-070E-107D-C7F850B2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BF806-EEEF-233C-E9D0-C246334D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757AF-8B69-581B-6B67-03B9331E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3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B2A2-E1D7-DF5C-C889-11836950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04D29-E68A-F2D4-E6AA-1AB88063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24107-6486-A2D6-90CA-63E322DE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42333-3E36-4FD6-C957-8E78BDCD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3F51D-C2E2-5126-28E2-0A495847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1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2D42-9B7F-C964-E229-1A974387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076F3-6108-4A7D-D6EE-AC7B9316E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626AF-2BEB-272B-49EB-9233C9621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1DB56-8E85-9D17-CE86-336CB305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3DC66-2636-6DAE-2822-26C3B27F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C459D-F702-0186-8B4A-4FD69759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1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0E08-1660-E430-8554-D2F4D89E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DEF3-E157-4D6E-6C69-7F869B0E6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F05D9-6FA3-E6FD-08AE-B7E1B2D06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14D81-02F9-F1D2-10CE-C31F8A075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9598C-6947-A08C-7F70-FCB63CB6F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677247-4BAA-0630-C463-59B97C3F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05500-DD1C-AC20-D549-6BDE3589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BD829-79E1-C806-EB94-A1A28C91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2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E4D8-2992-6089-852D-2E36F44E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6A4F94-D1B3-AC3B-46AE-AA80CD2E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A3CAD-D895-605F-6127-F500EE41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2B62B-41BB-F2B9-CACB-327A393D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7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D74EA-6917-1B6A-7949-49B80A70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AB3BC-6F1A-0911-FDE7-5F857B5B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362E6-B5BE-6A6E-7AAF-0AE4334E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B82A-D96B-B80E-B927-5BD3A9C2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1513-6C32-8CF6-03FE-1D03A45D8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B5794-6833-947D-1923-D33A44BB9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EFFDE-B3EC-DF7A-5921-74E61726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A12B8-F826-65D2-95B7-C5C9E0D1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ACAB6-A259-97B8-60A9-2EE2D10F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9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30B4-4614-9B8D-F088-75B973D1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2F9B7-90AB-7B93-9EA0-199D0E2C9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C16B4-F0FD-1F3B-D71B-B63F7C64B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AFD12-F253-89DE-D76B-BFD14077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7B1F8-2F6A-7CC5-37C1-026A4F3F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242BD-081E-6C85-9F4C-742D9F2E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4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3609-00DD-7DB3-B1EC-54CF8415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532A3-A953-B528-8A41-E9C93C30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35DA-C1AD-3962-CB96-0BC0F58C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E04BC-71F1-E46D-CEB2-B96DDBFA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25981-17FF-7B13-3781-725BA3AA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5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4384B-8677-EA60-A4DF-AD2530CF6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01B2B-FBAF-B6FA-0491-7E4A88C33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060C-93CD-CDE9-C1A9-1BBC2A80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DB391-7C66-82D3-3C7D-202A74CF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36C09-0E8F-9865-25B0-1B474FC9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21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032752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42A35-1C8A-C683-5163-785F6612F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036FE-D40C-584B-E867-5E594DE6E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10331-479E-C3C1-EFDD-39DFD3847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B0E40-BDC0-D94F-828B-9F1710680FB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758E9-B915-D60E-B6C7-3ABBFA5B7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EA2C5-93F3-5910-7DA8-4D25EB30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1702C-BEC7-7F47-A714-4B758D4B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9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manual/en/language.constants.predefined.php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manual/en/funcref.php" TargetMode="Externa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docs.php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hp in 30 minutes (ish)"/>
          <p:cNvSpPr txBox="1">
            <a:spLocks noGrp="1"/>
          </p:cNvSpPr>
          <p:nvPr>
            <p:ph type="title"/>
          </p:nvPr>
        </p:nvSpPr>
        <p:spPr>
          <a:xfrm>
            <a:off x="1945482" y="-20688"/>
            <a:ext cx="8229601" cy="1692277"/>
          </a:xfrm>
          <a:prstGeom prst="rect">
            <a:avLst/>
          </a:prstGeom>
        </p:spPr>
        <p:txBody>
          <a:bodyPr/>
          <a:lstStyle/>
          <a:p>
            <a:r>
              <a:t>Php in 30 minutes (ish)</a:t>
            </a:r>
          </a:p>
        </p:txBody>
      </p:sp>
      <p:sp>
        <p:nvSpPr>
          <p:cNvPr id="383" name="For experienced programmers…"/>
          <p:cNvSpPr txBox="1">
            <a:spLocks noGrp="1"/>
          </p:cNvSpPr>
          <p:nvPr>
            <p:ph type="body" idx="1"/>
          </p:nvPr>
        </p:nvSpPr>
        <p:spPr>
          <a:xfrm>
            <a:off x="1981200" y="1793926"/>
            <a:ext cx="8229600" cy="5084763"/>
          </a:xfrm>
          <a:prstGeom prst="rect">
            <a:avLst/>
          </a:prstGeom>
        </p:spPr>
        <p:txBody>
          <a:bodyPr/>
          <a:lstStyle>
            <a:lvl1pPr marL="240631" indent="-240631">
              <a:buFontTx/>
            </a:lvl1pPr>
          </a:lstStyle>
          <a:p>
            <a:r>
              <a:t>For experienced programmers…</a:t>
            </a:r>
          </a:p>
        </p:txBody>
      </p:sp>
      <p:pic>
        <p:nvPicPr>
          <p:cNvPr id="384" name="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7" y="1916832"/>
            <a:ext cx="2736305" cy="19194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HP Tag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PHP Tags</a:t>
            </a:r>
          </a:p>
        </p:txBody>
      </p:sp>
      <p:sp>
        <p:nvSpPr>
          <p:cNvPr id="387" name="Your PHP code will be executed in Workbooks via a Web Server.  Your code needs to differentiated from other elements that may occur within a Wen pag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Your PHP code will be executed in Workbooks via a Web Server.  Your code needs to differentiated from other elements that may occur within a Wen page. </a:t>
            </a:r>
          </a:p>
          <a:p>
            <a:r>
              <a:t>This is achieved by wrapping the PHP code within PHP tags, the most commonly used being:</a:t>
            </a:r>
            <a:br/>
            <a:br/>
            <a:r>
              <a:rPr b="1"/>
              <a:t>&lt;?php</a:t>
            </a:r>
            <a:r>
              <a:t>...</a:t>
            </a:r>
            <a:r>
              <a:rPr b="1"/>
              <a:t>?&gt;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Com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Comments</a:t>
            </a:r>
          </a:p>
        </p:txBody>
      </p:sp>
      <p:sp>
        <p:nvSpPr>
          <p:cNvPr id="390" name="Single Line Commen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Single Line Comments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br/>
            <a:r>
              <a:t># This is a comment</a:t>
            </a:r>
            <a:br/>
            <a:endParaRPr/>
          </a:p>
          <a:p>
            <a:endParaRPr/>
          </a:p>
          <a:p>
            <a:r>
              <a:t>Multi - Line comments (Like C/C++)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br/>
            <a:r>
              <a:t>/* This is a</a:t>
            </a:r>
            <a:br/>
            <a:r>
              <a:t>     Multi-line comment</a:t>
            </a:r>
            <a:br/>
            <a:r>
              <a:t>  */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Not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Notes		</a:t>
            </a:r>
          </a:p>
        </p:txBody>
      </p:sp>
      <p:sp>
        <p:nvSpPr>
          <p:cNvPr id="393" name="PHP statements end with a semi-colon.…"/>
          <p:cNvSpPr txBox="1">
            <a:spLocks noGrp="1"/>
          </p:cNvSpPr>
          <p:nvPr>
            <p:ph type="body" idx="1"/>
          </p:nvPr>
        </p:nvSpPr>
        <p:spPr>
          <a:xfrm>
            <a:off x="1981200" y="1757845"/>
            <a:ext cx="8229600" cy="5084763"/>
          </a:xfrm>
          <a:prstGeom prst="rect">
            <a:avLst/>
          </a:prstGeom>
        </p:spPr>
        <p:txBody>
          <a:bodyPr/>
          <a:lstStyle/>
          <a:p>
            <a:r>
              <a:t>PHP statements end with a semi-colon.</a:t>
            </a:r>
          </a:p>
          <a:p>
            <a:r>
              <a:t>PHP is case sensitive</a:t>
            </a:r>
          </a:p>
          <a:p>
            <a:r>
              <a:t>PHP is whitespace insensitive</a:t>
            </a:r>
          </a:p>
          <a:p>
            <a:r>
              <a:t>Blocks of code are delimited with braces { …. }</a:t>
            </a:r>
          </a:p>
          <a:p>
            <a:r>
              <a:t>PHP supports functional and Object Oriented programming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Vari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Variables</a:t>
            </a:r>
          </a:p>
        </p:txBody>
      </p:sp>
      <p:sp>
        <p:nvSpPr>
          <p:cNvPr id="396" name="Denoted with a leading dollar sig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Denoted with a leading dollar sign.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$varname = 123;</a:t>
            </a:r>
          </a:p>
          <a:p>
            <a:endParaRPr/>
          </a:p>
          <a:p>
            <a:r>
              <a:t>Variables are not typed when declared</a:t>
            </a:r>
          </a:p>
          <a:p>
            <a:r>
              <a:t>They can be used before they are assigned and will take on default values</a:t>
            </a:r>
          </a:p>
          <a:p>
            <a:r>
              <a:t>They are converted between types as required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yp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</a:t>
            </a:r>
          </a:p>
        </p:txBody>
      </p:sp>
      <p:sp>
        <p:nvSpPr>
          <p:cNvPr id="399" name="Integ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buChar char="•"/>
              <a:defRPr sz="1600"/>
            </a:pPr>
            <a:r>
              <a:t>Integer</a:t>
            </a:r>
          </a:p>
          <a:p>
            <a:pPr marL="88900" marR="88900" lvl="2" indent="45720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$counter = 0;</a:t>
            </a:r>
          </a:p>
          <a:p>
            <a:pPr lvl="1">
              <a:buChar char="•"/>
              <a:defRPr sz="1600"/>
            </a:pPr>
            <a:endParaRPr/>
          </a:p>
          <a:p>
            <a:pPr lvl="1">
              <a:buChar char="•"/>
              <a:defRPr sz="1600"/>
            </a:pPr>
            <a:r>
              <a:t>Double</a:t>
            </a:r>
          </a:p>
          <a:p>
            <a:pPr marL="88900" marR="88900" lvl="2" indent="45720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$amount = 2.85</a:t>
            </a:r>
          </a:p>
          <a:p>
            <a:pPr lvl="1">
              <a:buChar char="•"/>
              <a:defRPr sz="1600"/>
            </a:pPr>
            <a:endParaRPr/>
          </a:p>
          <a:p>
            <a:pPr lvl="1">
              <a:buChar char="•"/>
              <a:defRPr sz="1600"/>
            </a:pPr>
            <a:r>
              <a:t>Boolean</a:t>
            </a:r>
          </a:p>
          <a:p>
            <a:pPr marL="88900" marR="88900" lvl="2" indent="45720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$account_active = TRUE;</a:t>
            </a:r>
          </a:p>
          <a:p>
            <a:pPr lvl="1">
              <a:buChar char="•"/>
              <a:defRPr sz="1600"/>
            </a:pPr>
            <a:endParaRPr/>
          </a:p>
          <a:p>
            <a:pPr lvl="1">
              <a:buChar char="•"/>
              <a:defRPr sz="1600"/>
            </a:pPr>
            <a:r>
              <a:t>NULL</a:t>
            </a:r>
          </a:p>
          <a:p>
            <a:pPr marL="88900" marR="88900" lvl="2" indent="4572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$var1 = NULL;</a:t>
            </a:r>
          </a:p>
          <a:p>
            <a:pPr marL="88900" marR="88900" lvl="2" indent="4572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IsSet( $var1 ) will return FALSE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yp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</a:t>
            </a:r>
          </a:p>
        </p:txBody>
      </p:sp>
      <p:sp>
        <p:nvSpPr>
          <p:cNvPr id="402" name="String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Strings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$message = “Hello World”;</a:t>
            </a:r>
          </a:p>
          <a:p>
            <a:pPr lvl="1">
              <a:buChar char="•"/>
            </a:pPr>
            <a:r>
              <a:t>Strings enclosed by double quotes support variable expansion. Single quotes do not.</a:t>
            </a:r>
          </a:p>
          <a:p>
            <a:pPr lvl="1">
              <a:buChar char="•"/>
            </a:pPr>
            <a:r>
              <a:t>PHP Supports Here Documents</a:t>
            </a:r>
          </a:p>
          <a:p>
            <a:r>
              <a:t>Arrays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$week_days = array( ‘Mon’, ‘Tue’, ‘Wed’,’Thu’, ‘Fri’ );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$days[0]  = ‘Sun’;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echo “The second working day is {$week_days[1]}”;</a:t>
            </a:r>
          </a:p>
          <a:p>
            <a:pPr lvl="1">
              <a:buChar char="•"/>
            </a:pPr>
            <a:r>
              <a:t>Recent versions of PHP support a [] declaration syntax.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yp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</a:t>
            </a:r>
          </a:p>
        </p:txBody>
      </p:sp>
      <p:sp>
        <p:nvSpPr>
          <p:cNvPr id="405" name="Associative Arrays (Hashes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Associative Arrays (Hashes)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$classes = array( </a:t>
            </a:r>
            <a:br/>
            <a:r>
              <a:t>   ‘Person’ =&gt; ‘Private::Crm::Person’,</a:t>
            </a:r>
            <a:br/>
            <a:r>
              <a:t>   ‘Lead’ =&gt; ‘Private::Crm::SalesLead’,</a:t>
            </a:r>
            <a:br/>
            <a:r>
              <a:t>);</a:t>
            </a:r>
            <a:br/>
            <a:br/>
            <a:r>
              <a:t>echo ‘Person class name is ‘.$classes[‘Person’];</a:t>
            </a:r>
          </a:p>
          <a:p>
            <a:pPr lvl="1">
              <a:buChar char="•"/>
            </a:pPr>
            <a:endParaRPr/>
          </a:p>
          <a:p>
            <a:pPr lvl="1">
              <a:buChar char="•"/>
            </a:pPr>
            <a:r>
              <a:t>Tip: You can leave trailing commas on the last array entry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Four Variable Scopes"/>
          <p:cNvSpPr txBox="1">
            <a:spLocks noGrp="1"/>
          </p:cNvSpPr>
          <p:nvPr>
            <p:ph type="title"/>
          </p:nvPr>
        </p:nvSpPr>
        <p:spPr>
          <a:xfrm>
            <a:off x="1992313" y="20688"/>
            <a:ext cx="8229601" cy="1692277"/>
          </a:xfrm>
          <a:prstGeom prst="rect">
            <a:avLst/>
          </a:prstGeom>
        </p:spPr>
        <p:txBody>
          <a:bodyPr/>
          <a:lstStyle/>
          <a:p>
            <a:r>
              <a:t>Four Variable Scopes</a:t>
            </a:r>
          </a:p>
        </p:txBody>
      </p:sp>
      <p:sp>
        <p:nvSpPr>
          <p:cNvPr id="410" name="Local - accessible within a function or modu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700"/>
            </a:pPr>
            <a:r>
              <a:t>Local - accessible within a function or module </a:t>
            </a:r>
          </a:p>
          <a:p>
            <a:pPr marL="88900" marR="88900" lvl="1" indent="228600" defTabSz="177800">
              <a:buNone/>
              <a:defRPr sz="17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$localVar = ‘abc’;</a:t>
            </a:r>
          </a:p>
          <a:p>
            <a:pPr>
              <a:defRPr sz="1700"/>
            </a:pPr>
            <a:endParaRPr/>
          </a:p>
          <a:p>
            <a:pPr>
              <a:defRPr sz="1700"/>
            </a:pPr>
            <a:r>
              <a:t>Function Parameter - local within function</a:t>
            </a:r>
          </a:p>
          <a:p>
            <a:pPr>
              <a:defRPr sz="1700"/>
            </a:pPr>
            <a:endParaRPr/>
          </a:p>
          <a:p>
            <a:pPr>
              <a:defRPr sz="1700"/>
            </a:pPr>
            <a:r>
              <a:t>Global  - within or without any function</a:t>
            </a:r>
          </a:p>
          <a:p>
            <a:pPr marL="88900" marR="88900" lvl="1" indent="228600" defTabSz="177800">
              <a:buNone/>
              <a:defRPr sz="17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GLOBAL $varname;</a:t>
            </a:r>
          </a:p>
          <a:p>
            <a:pPr>
              <a:defRPr sz="1700"/>
            </a:pPr>
            <a:endParaRPr/>
          </a:p>
          <a:p>
            <a:pPr>
              <a:defRPr sz="1700"/>
            </a:pPr>
            <a:r>
              <a:t>Static (like C/C++)</a:t>
            </a:r>
          </a:p>
          <a:p>
            <a:pPr lvl="1">
              <a:buChar char="•"/>
              <a:defRPr sz="1700"/>
            </a:pPr>
            <a:r>
              <a:t>Will retain value over multiple functions calls</a:t>
            </a:r>
          </a:p>
          <a:p>
            <a:pPr marL="88900" marR="88900" lvl="1" indent="228600" defTabSz="177800">
              <a:buNone/>
              <a:defRPr sz="17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STATIC $call_count;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Constants"/>
          <p:cNvSpPr txBox="1">
            <a:spLocks noGrp="1"/>
          </p:cNvSpPr>
          <p:nvPr>
            <p:ph type="title"/>
          </p:nvPr>
        </p:nvSpPr>
        <p:spPr>
          <a:xfrm>
            <a:off x="1992313" y="20688"/>
            <a:ext cx="8229601" cy="1692277"/>
          </a:xfrm>
          <a:prstGeom prst="rect">
            <a:avLst/>
          </a:prstGeom>
        </p:spPr>
        <p:txBody>
          <a:bodyPr/>
          <a:lstStyle/>
          <a:p>
            <a:r>
              <a:t>Constants</a:t>
            </a:r>
          </a:p>
        </p:txBody>
      </p:sp>
      <p:sp>
        <p:nvSpPr>
          <p:cNvPr id="413" name="define( LINE_LENGTH, 255 );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define( LINE_LENGTH, 255 );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echo LINE_LENGTH;  /* Note No leading $ */</a:t>
            </a:r>
          </a:p>
          <a:p>
            <a:endParaRPr/>
          </a:p>
          <a:p>
            <a:r>
              <a:t>Magic Constants ( See </a:t>
            </a:r>
            <a:r>
              <a:rPr u="sng">
                <a:solidFill>
                  <a:srgbClr val="9454C3"/>
                </a:solidFill>
                <a:uFill>
                  <a:solidFill>
                    <a:srgbClr val="9454C3"/>
                  </a:solidFill>
                </a:uFill>
                <a:hlinkClick r:id="rId2"/>
              </a:rPr>
              <a:t>http://www.php.net/manual/en/language.constants.predefined.php</a:t>
            </a:r>
            <a:r>
              <a:t> )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__LINE__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__FILE__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__DIR__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__FUNCTION__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onditiona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Conditionals</a:t>
            </a:r>
          </a:p>
        </p:txBody>
      </p:sp>
      <p:sp>
        <p:nvSpPr>
          <p:cNvPr id="416" name="if ( $line_length &lt; LINE_LIMIT )  {     echo ‘Line length is within limits’; } else {     echo ‘Line length exceeds limit: ‘.LIMIT; }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60350" marR="88900" indent="-171450" defTabSz="177800"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if ( $line_length &lt; LINE_LIMIT ) </a:t>
            </a:r>
            <a:br/>
            <a:r>
              <a:t>{</a:t>
            </a:r>
            <a:br/>
            <a:r>
              <a:t>    echo ‘Line length is within limits’;</a:t>
            </a:r>
            <a:br/>
            <a:r>
              <a:t>}</a:t>
            </a:r>
            <a:br/>
            <a:r>
              <a:t>else</a:t>
            </a:r>
            <a:br/>
            <a:r>
              <a:t>{</a:t>
            </a:r>
            <a:br/>
            <a:r>
              <a:t>    echo ‘Line length exceeds limit: ‘.LIMIT;</a:t>
            </a:r>
            <a:br/>
            <a:r>
              <a:t>}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Loo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Loops</a:t>
            </a:r>
          </a:p>
        </p:txBody>
      </p:sp>
      <p:sp>
        <p:nvSpPr>
          <p:cNvPr id="419" name="while ( expression ) {    /* block of code */ }…"/>
          <p:cNvSpPr txBox="1">
            <a:spLocks noGrp="1"/>
          </p:cNvSpPr>
          <p:nvPr>
            <p:ph type="body" idx="1"/>
          </p:nvPr>
        </p:nvSpPr>
        <p:spPr>
          <a:xfrm>
            <a:off x="1981200" y="1784663"/>
            <a:ext cx="8229600" cy="5084763"/>
          </a:xfrm>
          <a:prstGeom prst="rect">
            <a:avLst/>
          </a:prstGeom>
        </p:spPr>
        <p:txBody>
          <a:bodyPr/>
          <a:lstStyle/>
          <a:p>
            <a:pPr marL="88900" marR="88900" indent="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while ( expression )</a:t>
            </a:r>
            <a:br/>
            <a:r>
              <a:t>{</a:t>
            </a:r>
            <a:br/>
            <a:r>
              <a:t>   /* block of code */</a:t>
            </a:r>
            <a:br/>
            <a:r>
              <a:t>}</a:t>
            </a:r>
          </a:p>
          <a:p>
            <a:pPr marL="88900" marR="88900" indent="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88900" marR="88900" indent="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do </a:t>
            </a:r>
            <a:br/>
            <a:r>
              <a:t>{</a:t>
            </a:r>
            <a:br/>
            <a:r>
              <a:t>   /* block of code */</a:t>
            </a:r>
            <a:br/>
            <a:r>
              <a:t>} while ( expression )</a:t>
            </a:r>
          </a:p>
          <a:p>
            <a:pPr marL="88900" marR="88900" indent="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88900" marR="88900" indent="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 ( expression1; expression2; expression3 )</a:t>
            </a:r>
            <a:br/>
            <a:r>
              <a:t>{</a:t>
            </a:r>
            <a:br/>
            <a:r>
              <a:t>   /* block of code */</a:t>
            </a:r>
            <a:br/>
            <a:r>
              <a:t>}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Loo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Loops</a:t>
            </a:r>
          </a:p>
        </p:txBody>
      </p:sp>
      <p:sp>
        <p:nvSpPr>
          <p:cNvPr id="422" name="foreach - iterates over an arra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0631" indent="-240631">
              <a:buFontTx/>
            </a:pPr>
            <a:r>
              <a:t>foreach - iterates over an array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foreach ( $array as $value )</a:t>
            </a:r>
            <a:br/>
            <a:r>
              <a:t>{</a:t>
            </a:r>
            <a:br/>
            <a:r>
              <a:t>   /* Block of code */</a:t>
            </a:r>
            <a:br/>
            <a:r>
              <a:t>}</a:t>
            </a:r>
          </a:p>
          <a:p>
            <a:pPr lvl="1"/>
            <a:endParaRPr/>
          </a:p>
          <a:p>
            <a:pPr marL="240631" indent="-240631">
              <a:buFontTx/>
            </a:pPr>
            <a:r>
              <a:t>Or iterate over the members of a hash: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foreach ($hash as $key =&gt; $value)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{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	/* Block of code */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Functions</a:t>
            </a:r>
          </a:p>
        </p:txBody>
      </p:sp>
      <p:sp>
        <p:nvSpPr>
          <p:cNvPr id="425" name="function myFunction( $param1 = “No Value”, $param2  = “Value” ) {     return “$param1 $param2”;  }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" marR="88900" indent="0" defTabSz="177800">
              <a:buNone/>
              <a:defRPr sz="16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function myFunction( $param1 = “No Value”, $param2  = “Value” )</a:t>
            </a:r>
            <a:br/>
            <a:r>
              <a:t>{</a:t>
            </a:r>
            <a:br/>
            <a:r>
              <a:t>    return “$param1 $param2”; </a:t>
            </a:r>
            <a:br/>
            <a:r>
              <a:t>}</a:t>
            </a:r>
          </a:p>
          <a:p>
            <a:endParaRPr/>
          </a:p>
          <a:p>
            <a:r>
              <a:t>Parameters are passed by value. Prefix with &amp; to pass by reference.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la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Classes</a:t>
            </a:r>
          </a:p>
        </p:txBody>
      </p:sp>
      <p:sp>
        <p:nvSpPr>
          <p:cNvPr id="428" name="class WorkBooksConnection extends Connec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class WorkBooksConnection extends Connections 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{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/* Variable Declarations */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/* Function Declarations */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 </a:t>
            </a:r>
          </a:p>
          <a:p>
            <a:pPr marL="0" indent="0">
              <a:buNone/>
              <a:defRPr sz="2100"/>
            </a:pPr>
            <a:endParaRPr/>
          </a:p>
          <a:p>
            <a:pPr marL="0" indent="0">
              <a:buNone/>
              <a:defRPr sz="2100"/>
            </a:pPr>
            <a:r>
              <a:t>Use: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$wb = new WorkBooksConnection;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$wb-&gt;publicMethod1( $param1 );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</a:t>
            </a:r>
          </a:p>
          <a:p>
            <a:pPr marL="0" indent="0">
              <a:buNone/>
            </a:pPr>
            <a:r>
              <a:t>  </a:t>
            </a:r>
          </a:p>
          <a:p>
            <a:pPr marL="0" indent="0">
              <a:buNone/>
            </a:pPr>
            <a:r>
              <a:t> 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Class Memb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 Members</a:t>
            </a:r>
          </a:p>
        </p:txBody>
      </p:sp>
      <p:sp>
        <p:nvSpPr>
          <p:cNvPr id="431" name="# Constants are declared with the const keywor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Constants are declared with the const keyword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const REQUEST_SIZE = 1024;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A public attribute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var $var1 = 123;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A private instance variable, only accessible by functions within this class.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private $var2 = 456;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A private instance variable, accessible by any sub-class</a:t>
            </a:r>
          </a:p>
          <a:p>
            <a:pPr marL="88900" marR="88900" indent="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protected $var3 = 789;</a:t>
            </a:r>
          </a:p>
          <a:p>
            <a:pPr marL="0" indent="0">
              <a:buNone/>
              <a:defRPr sz="2000"/>
            </a:pPr>
            <a:endParaRPr/>
          </a:p>
          <a:p>
            <a:pPr marL="0" indent="0">
              <a:buNone/>
              <a:defRPr sz="2000"/>
            </a:pPr>
            <a:r>
              <a:rPr b="1"/>
              <a:t>protected</a:t>
            </a:r>
            <a:r>
              <a:t> and </a:t>
            </a:r>
            <a:r>
              <a:rPr b="1"/>
              <a:t>private</a:t>
            </a:r>
            <a:r>
              <a:t> may also be used to set the scope for member functions too.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Constructors and Destu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Constructors and Destuctors</a:t>
            </a:r>
          </a:p>
        </p:txBody>
      </p:sp>
      <p:sp>
        <p:nvSpPr>
          <p:cNvPr id="434" name="A constructor function may be declared:…"/>
          <p:cNvSpPr txBox="1">
            <a:spLocks noGrp="1"/>
          </p:cNvSpPr>
          <p:nvPr>
            <p:ph type="body" idx="1"/>
          </p:nvPr>
        </p:nvSpPr>
        <p:spPr>
          <a:xfrm>
            <a:off x="1981200" y="1752551"/>
            <a:ext cx="8229600" cy="5084763"/>
          </a:xfrm>
          <a:prstGeom prst="rect">
            <a:avLst/>
          </a:prstGeom>
        </p:spPr>
        <p:txBody>
          <a:bodyPr/>
          <a:lstStyle/>
          <a:p>
            <a:r>
              <a:t>A constructor function may be declared:</a:t>
            </a:r>
          </a:p>
          <a:p>
            <a:pPr marL="88900" marR="88900" lvl="1" indent="228600" defTabSz="177800">
              <a:buNone/>
              <a:defRPr sz="1200">
                <a:solidFill>
                  <a:srgbClr val="7B0C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function __contruct( $param1, $param2 ) { …. }</a:t>
            </a:r>
          </a:p>
          <a:p>
            <a:pPr lvl="1">
              <a:buChar char="•"/>
            </a:pPr>
            <a:endParaRPr/>
          </a:p>
          <a:p>
            <a:r>
              <a:t>A destructor may function may also be declared:</a:t>
            </a:r>
          </a:p>
          <a:p>
            <a:pPr marL="0" lvl="1" indent="228600">
              <a:buNone/>
            </a:pPr>
            <a:r>
              <a:t>function __destruct() { …. }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Many Available Functions and Cla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Many Available Functions and Classes</a:t>
            </a:r>
          </a:p>
        </p:txBody>
      </p:sp>
      <p:sp>
        <p:nvSpPr>
          <p:cNvPr id="437" name="PHP has many many functions and classes available to the programmer.…"/>
          <p:cNvSpPr txBox="1">
            <a:spLocks noGrp="1"/>
          </p:cNvSpPr>
          <p:nvPr>
            <p:ph type="body" idx="1"/>
          </p:nvPr>
        </p:nvSpPr>
        <p:spPr>
          <a:xfrm>
            <a:off x="1981200" y="1587047"/>
            <a:ext cx="8229600" cy="50847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PHP has many many functions and classes available to the programmer.</a:t>
            </a:r>
          </a:p>
          <a:p>
            <a:pPr lvl="1">
              <a:buChar char="•"/>
            </a:pPr>
            <a:r>
              <a:rPr lang="en-GB"/>
              <a:t>String functions</a:t>
            </a:r>
          </a:p>
          <a:p>
            <a:pPr lvl="1">
              <a:buChar char="•"/>
            </a:pPr>
            <a:r>
              <a:rPr lang="en-GB"/>
              <a:t>Web Services</a:t>
            </a:r>
          </a:p>
          <a:p>
            <a:pPr lvl="1">
              <a:buChar char="•"/>
            </a:pPr>
            <a:r>
              <a:rPr lang="en-GB"/>
              <a:t>JSON parsing</a:t>
            </a:r>
          </a:p>
          <a:p>
            <a:pPr lvl="1">
              <a:buChar char="•"/>
            </a:pPr>
            <a:r>
              <a:rPr lang="en-GB"/>
              <a:t>Email handling</a:t>
            </a:r>
          </a:p>
          <a:p>
            <a:pPr lvl="1">
              <a:buChar char="•"/>
            </a:pPr>
            <a:r>
              <a:rPr lang="en-GB"/>
              <a:t>Exception handling</a:t>
            </a:r>
          </a:p>
          <a:p>
            <a:pPr lvl="1">
              <a:buChar char="•"/>
            </a:pPr>
            <a:r>
              <a:rPr lang="en-GB"/>
              <a:t>Many Many More.</a:t>
            </a:r>
          </a:p>
          <a:p>
            <a:pPr lvl="1">
              <a:buChar char="•"/>
            </a:pPr>
            <a:endParaRPr lang="en-GB"/>
          </a:p>
          <a:p>
            <a:pPr marL="0" lvl="1" indent="228600">
              <a:buNone/>
            </a:pPr>
            <a:r>
              <a:rPr lang="en-GB" u="sng">
                <a:solidFill>
                  <a:srgbClr val="9454C3"/>
                </a:solidFill>
                <a:uFill>
                  <a:solidFill>
                    <a:srgbClr val="9454C3"/>
                  </a:solidFill>
                </a:uFill>
                <a:hlinkClick r:id="rId2"/>
              </a:rPr>
              <a:t>http://www.php.net/manual/en/funcref.php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More Inform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More Information</a:t>
            </a:r>
          </a:p>
        </p:txBody>
      </p:sp>
      <p:sp>
        <p:nvSpPr>
          <p:cNvPr id="440" name="Google…"/>
          <p:cNvSpPr txBox="1">
            <a:spLocks noGrp="1"/>
          </p:cNvSpPr>
          <p:nvPr>
            <p:ph type="body" idx="1"/>
          </p:nvPr>
        </p:nvSpPr>
        <p:spPr>
          <a:xfrm>
            <a:off x="1981200" y="1738966"/>
            <a:ext cx="8229600" cy="5084763"/>
          </a:xfrm>
          <a:prstGeom prst="rect">
            <a:avLst/>
          </a:prstGeom>
        </p:spPr>
        <p:txBody>
          <a:bodyPr/>
          <a:lstStyle/>
          <a:p>
            <a:r>
              <a:t>Google</a:t>
            </a:r>
          </a:p>
          <a:p>
            <a:r>
              <a:rPr u="sng">
                <a:solidFill>
                  <a:srgbClr val="9454C3"/>
                </a:solidFill>
                <a:uFill>
                  <a:solidFill>
                    <a:srgbClr val="9454C3"/>
                  </a:solidFill>
                </a:uFill>
                <a:hlinkClick r:id="rId2"/>
              </a:rPr>
              <a:t>http://www.php.net/docs.php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883</Words>
  <Application>Microsoft Macintosh PowerPoint</Application>
  <PresentationFormat>Widescreen</PresentationFormat>
  <Paragraphs>139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Php in 30 minutes (ish)</vt:lpstr>
      <vt:lpstr>PHP Tags</vt:lpstr>
      <vt:lpstr>Comments</vt:lpstr>
      <vt:lpstr>Notes  </vt:lpstr>
      <vt:lpstr>Variables</vt:lpstr>
      <vt:lpstr>Types</vt:lpstr>
      <vt:lpstr>Types</vt:lpstr>
      <vt:lpstr>Types</vt:lpstr>
      <vt:lpstr>Four Variable Scopes</vt:lpstr>
      <vt:lpstr>Constants</vt:lpstr>
      <vt:lpstr>Conditionals</vt:lpstr>
      <vt:lpstr>Loops</vt:lpstr>
      <vt:lpstr>Loops</vt:lpstr>
      <vt:lpstr>Functions</vt:lpstr>
      <vt:lpstr>Classes</vt:lpstr>
      <vt:lpstr>Class Members</vt:lpstr>
      <vt:lpstr>Constructors and Destuctors</vt:lpstr>
      <vt:lpstr>Many Available Functions and Classes</vt:lpstr>
      <vt:lpstr>More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Whitehouse</dc:creator>
  <cp:lastModifiedBy>Steve Whitehouse</cp:lastModifiedBy>
  <cp:revision>1</cp:revision>
  <dcterms:created xsi:type="dcterms:W3CDTF">2025-11-03T12:23:07Z</dcterms:created>
  <dcterms:modified xsi:type="dcterms:W3CDTF">2025-11-03T12:25:53Z</dcterms:modified>
</cp:coreProperties>
</file>